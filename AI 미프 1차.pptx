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imH+uOZYDZHo/zLJhqI1L2P1y9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3D5AA2-EEBE-45B3-A34D-C27BBD040579}">
  <a:tblStyle styleId="{313D5AA2-EEBE-45B3-A34D-C27BBD0405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2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  <a:defRPr b="0" i="0" sz="180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 b="21944" l="0" r="0" t="6771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8"/>
          <p:cNvPicPr preferRelativeResize="0"/>
          <p:nvPr/>
        </p:nvPicPr>
        <p:blipFill rotWithShape="1">
          <a:blip r:embed="rId2">
            <a:alphaModFix/>
          </a:blip>
          <a:srcRect b="21944" l="0" r="0" t="25551"/>
          <a:stretch/>
        </p:blipFill>
        <p:spPr>
          <a:xfrm>
            <a:off x="0" y="0"/>
            <a:ext cx="12192000" cy="360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8"/>
          <p:cNvPicPr preferRelativeResize="0"/>
          <p:nvPr/>
        </p:nvPicPr>
        <p:blipFill rotWithShape="1">
          <a:blip r:embed="rId2">
            <a:alphaModFix/>
          </a:blip>
          <a:srcRect b="21944" l="0" r="0" t="6771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/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1" i="0" sz="344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1" name="Google Shape;21;p8"/>
          <p:cNvCxnSpPr>
            <a:stCxn id="19" idx="1"/>
            <a:endCxn id="19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8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b="0" i="0" lang="ko-KR" sz="102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22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8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None/>
            </a:pPr>
            <a:r>
              <a:rPr b="1" i="0" lang="ko-KR" sz="1292" u="none" cap="none" strike="noStrik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 b="0" i="0" sz="1723" u="none" cap="none" strike="noStrike">
              <a:solidFill>
                <a:srgbClr val="34AE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b="1" i="0" sz="295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22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96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72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8"/>
          <p:cNvSpPr/>
          <p:nvPr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8"/>
          <p:cNvCxnSpPr/>
          <p:nvPr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cap="flat" cmpd="thickThin" w="28575">
            <a:solidFill>
              <a:srgbClr val="02BDB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7" name="Google Shape;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">
  <p:cSld name="End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37679" y="404873"/>
            <a:ext cx="131450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9"/>
          <p:cNvSpPr/>
          <p:nvPr/>
        </p:nvSpPr>
        <p:spPr>
          <a:xfrm>
            <a:off x="7873572" y="3492799"/>
            <a:ext cx="2741372" cy="241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9"/>
              <a:buFont typeface="Arial"/>
              <a:buNone/>
            </a:pPr>
            <a:r>
              <a:rPr b="0" i="0" lang="ko-KR" sz="196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b="0" i="0" sz="17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클립아트이(가) 표시된 사진&#10;&#10;자동 생성된 설명" id="31" name="Google Shape;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2094" y="2907769"/>
            <a:ext cx="2372373" cy="49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4561"/>
            <a:ext cx="12192000" cy="750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393700" lvl="0" marL="457200" marR="0" rtl="0" algn="l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2425" lvl="1" marL="9144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8645" lvl="2" marL="13716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b="0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21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541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b="0" i="0" sz="431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b="0" i="0" sz="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b="0" i="0" sz="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b="0" i="0" sz="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b="0" i="0" sz="43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70967" lvl="0" marL="457200" marR="0" rtl="0" algn="l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b="0" i="0" sz="275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2425" lvl="1" marL="9144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0042" lvl="2" marL="1371600" marR="0" rtl="0" algn="l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b="0" i="0" sz="215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7660" lvl="3" marL="1828800" marR="0" rtl="0" algn="l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b="0" i="0" sz="19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7660" lvl="4" marL="2286000" marR="0" rtl="0" algn="l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b="0" i="0" sz="192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9755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9755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9755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9755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b="0" i="0" sz="70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1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클립아트이(가) 표시된 사진&#10;&#10;자동 생성된 설명" id="49" name="Google Shape;4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1"/>
          <p:cNvCxnSpPr/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cap="flat" cmpd="sng" w="57150">
            <a:solidFill>
              <a:srgbClr val="02BDB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" name="Google Shape;51;p1"/>
          <p:cNvSpPr txBox="1"/>
          <p:nvPr/>
        </p:nvSpPr>
        <p:spPr>
          <a:xfrm>
            <a:off x="983632" y="2223951"/>
            <a:ext cx="8245702" cy="1205049"/>
          </a:xfrm>
          <a:prstGeom prst="rect">
            <a:avLst/>
          </a:prstGeom>
          <a:noFill/>
          <a:ln>
            <a:noFill/>
          </a:ln>
        </p:spPr>
        <p:txBody>
          <a:bodyPr anchorCtr="0" anchor="t" bIns="56225" lIns="112500" spcFirstLastPara="1" rIns="112500" wrap="square" tIns="56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개발자 트랙 미니프로젝트  1차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조별 발표 템플릿</a:t>
            </a:r>
            <a:endParaRPr b="1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983632" y="3444241"/>
            <a:ext cx="4202322" cy="644434"/>
          </a:xfrm>
          <a:prstGeom prst="rect">
            <a:avLst/>
          </a:prstGeom>
          <a:noFill/>
          <a:ln>
            <a:noFill/>
          </a:ln>
        </p:spPr>
        <p:txBody>
          <a:bodyPr anchorCtr="0" anchor="t" bIns="56225" lIns="112500" spcFirstLastPara="1" rIns="112500" wrap="square" tIns="56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200" u="none" cap="none" strike="noStrik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b="1" lang="ko-KR" sz="3200">
                <a:solidFill>
                  <a:srgbClr val="1F6765"/>
                </a:solidFill>
              </a:rPr>
              <a:t>06</a:t>
            </a:r>
            <a:r>
              <a:rPr b="1" i="0" lang="ko-KR" sz="3200" u="none" cap="none" strike="noStrik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반 </a:t>
            </a:r>
            <a:r>
              <a:rPr b="1" lang="ko-KR" sz="3200">
                <a:solidFill>
                  <a:srgbClr val="1F6765"/>
                </a:solidFill>
              </a:rPr>
              <a:t>12</a:t>
            </a:r>
            <a:r>
              <a:rPr b="1" i="0" lang="ko-KR" sz="3200" u="none" cap="none" strike="noStrike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조</a:t>
            </a:r>
            <a:endParaRPr b="1" i="0" sz="3200" u="none" cap="none" strike="noStrike">
              <a:solidFill>
                <a:srgbClr val="1F67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anchorCtr="0" anchor="t" bIns="56225" lIns="112500" spcFirstLastPara="1" rIns="112500" wrap="square" tIns="5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데이터 처리 및 분석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301096" y="3609260"/>
            <a:ext cx="2453784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(ex. 코드 캡쳐본 등)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b="0" i="0" lang="ko-KR" sz="1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없으면 안 넣으셔도 됩니다.</a:t>
            </a:r>
            <a:endParaRPr b="0" i="0" sz="1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779225" y="1840061"/>
            <a:ext cx="4606200" cy="43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</a:pPr>
            <a:r>
              <a:rPr lang="ko-KR" sz="2000"/>
              <a:t>EDA</a:t>
            </a:r>
            <a:endParaRPr sz="2000"/>
          </a:p>
          <a:p>
            <a:pPr indent="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ko-KR" sz="2000"/>
              <a:t>주요 변수 위주로 단변량 분석  및 시각화</a:t>
            </a:r>
            <a:endParaRPr sz="2000"/>
          </a:p>
          <a:p>
            <a:pPr indent="0" lvl="0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/>
              <a:t>=&gt; 측정일시, 기온, 강수량, PM10</a:t>
            </a:r>
            <a:endParaRPr sz="2000"/>
          </a:p>
          <a:p>
            <a:pPr indent="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ko-KR" sz="2000"/>
              <a:t>결측치 처리 </a:t>
            </a:r>
            <a:endParaRPr sz="2000"/>
          </a:p>
          <a:p>
            <a:pPr indent="0" lvl="0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ko-KR" sz="2000"/>
              <a:t>  Air) O3와 PM10 과의 CORR 상관관계가 0.03으로 적어서 O3 제거</a:t>
            </a:r>
            <a:endParaRPr sz="2000"/>
          </a:p>
          <a:p>
            <a:pPr indent="0" lvl="0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ko-KR" sz="2000"/>
              <a:t>Weather) 기온, 지중 온도는 상관관계가 0.95로 거의 비슷해 기온만 수용. null값 많은 변수  제거</a:t>
            </a:r>
            <a:endParaRPr sz="2000"/>
          </a:p>
        </p:txBody>
      </p:sp>
      <p:pic>
        <p:nvPicPr>
          <p:cNvPr id="61" name="Google Shape;61;p2" title="8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912" y="1939000"/>
            <a:ext cx="5371149" cy="4003804"/>
          </a:xfrm>
          <a:prstGeom prst="rect">
            <a:avLst/>
          </a:prstGeom>
          <a:solidFill>
            <a:srgbClr val="D9EDEA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anchorCtr="0" anchor="t" bIns="56225" lIns="112500" spcFirstLastPara="1" rIns="112500" wrap="square" tIns="5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머신</a:t>
            </a: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러닝 모델링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96750" y="1540354"/>
            <a:ext cx="46062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0296" lvl="0" marL="31029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sz="2000"/>
              <a:t>4가지 모델을 선정하여 회귀 분석 진행</a:t>
            </a:r>
            <a:endParaRPr sz="20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/>
              <a:t>=&gt; LinearRegression, RF, GB, XGB</a:t>
            </a:r>
            <a:endParaRPr sz="20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graphicFrame>
        <p:nvGraphicFramePr>
          <p:cNvPr id="68" name="Google Shape;68;p3"/>
          <p:cNvGraphicFramePr/>
          <p:nvPr/>
        </p:nvGraphicFramePr>
        <p:xfrm>
          <a:off x="952500" y="302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{313D5AA2-EEBE-45B3-A34D-C27BBD040579}</a:tableStyleId>
              </a:tblPr>
              <a:tblGrid>
                <a:gridCol w="2057400"/>
                <a:gridCol w="2193050"/>
                <a:gridCol w="192175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LinearRegression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RF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sz="2000">
                          <a:solidFill>
                            <a:schemeClr val="dk1"/>
                          </a:solidFill>
                        </a:rPr>
                        <a:t>XGB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MSE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52.4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62.4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75.39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72.48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R2_Score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0.917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0.902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9" name="Google Shape;69;p3"/>
          <p:cNvSpPr/>
          <p:nvPr/>
        </p:nvSpPr>
        <p:spPr>
          <a:xfrm>
            <a:off x="770775" y="4956725"/>
            <a:ext cx="104688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0296" lvl="0" marL="31029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sz="2000">
                <a:solidFill>
                  <a:schemeClr val="dk1"/>
                </a:solidFill>
              </a:rPr>
              <a:t>LinearRegression 모델 최종 성능이 가장 우수함.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anchorCtr="0" anchor="t" bIns="56225" lIns="112500" spcFirstLastPara="1" rIns="112500" wrap="square" tIns="5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ko-KR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종합 결과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0813" y="1309272"/>
            <a:ext cx="1064778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▪"/>
            </a:pPr>
            <a:r>
              <a:rPr b="0" i="0" lang="ko-K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여러 모델을 비교하여 수행해본 결과나 프로젝트를 통해 얻은 인사이트가 있으면 작성 해주세요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627900" y="2102400"/>
            <a:ext cx="4606200" cy="3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</a:pPr>
            <a:r>
              <a:rPr lang="ko-KR" sz="2000"/>
              <a:t>PM10 변수의 너무 강한 영향력</a:t>
            </a:r>
            <a:endParaRPr sz="20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/>
              <a:t> </a:t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ko-KR" sz="2000"/>
              <a:t>PM10의 변수 importance값이 다른 변수들에 비해 영향력이 강함</a:t>
            </a:r>
            <a:endParaRPr sz="20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ko-KR" sz="2000"/>
              <a:t>모델의 복잡도가 성능에 비례하지 않는다.</a:t>
            </a:r>
            <a:endParaRPr sz="20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ko-KR" sz="2000"/>
              <a:t>MSE : 52 ~ 75</a:t>
            </a:r>
            <a:endParaRPr sz="2000"/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ko-KR" sz="2000"/>
              <a:t>r2 : 0.9 ~ 0.93</a:t>
            </a:r>
            <a:endParaRPr sz="2000"/>
          </a:p>
        </p:txBody>
      </p:sp>
      <p:pic>
        <p:nvPicPr>
          <p:cNvPr id="78" name="Google Shape;7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224" y="2458950"/>
            <a:ext cx="4882525" cy="31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0x010100EEFD2EC9AE4E1C4E97A968ACD5F6A537</vt:lpwstr>
  </property>
  <property fmtid="{D5CDD505-2E9C-101B-9397-08002B2CF9AE}" pid="10" name="MediaServiceImageTags">
    <vt:lpwstr/>
  </property>
  <property fmtid="{D5CDD505-2E9C-101B-9397-08002B2CF9AE}" pid="11" name="Order">
    <vt:r8>1317100.0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